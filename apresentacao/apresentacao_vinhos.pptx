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468"/>
                </a:solidFill>
                <a:latin typeface="+mn-lt"/>
              </a:defRPr>
            </a:pPr>
            <a:r>
              <a:rPr lang="pt-BR" sz="1400" b="0" i="0" u="none" strike="noStrike">
                <a:solidFill>
                  <a:srgbClr val="6B6468"/>
                </a:solidFill>
                <a:latin typeface="+mn-lt"/>
              </a:rPr>
              <a:t>Quantidade de vinhos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Vinhos</c:v>
                </c:pt>
              </c:strCache>
            </c:strRef>
          </c:tx>
          <c:spPr>
            <a:solidFill>
              <a:srgbClr val="B5B0B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510-46FA-8D81-4AA1A28E74EF}"/>
              </c:ext>
            </c:extLst>
          </c:dPt>
          <c:dPt>
            <c:idx val="1"/>
            <c:invertIfNegative val="0"/>
            <c:bubble3D val="0"/>
            <c:spPr>
              <a:solidFill>
                <a:srgbClr val="8E2C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510-46FA-8D81-4AA1A28E74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1E1A1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Comuns (nota abaixo de 7)</c:v>
                </c:pt>
                <c:pt idx="1">
                  <c:v>Premium (nota 7 ou mais)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984</c:v>
                </c:pt>
                <c:pt idx="1">
                  <c:v>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510-46FA-8D81-4AA1A28E74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5B0B3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1A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468"/>
                </a:solidFill>
                <a:latin typeface="+mn-lt"/>
              </a:defRPr>
            </a:pPr>
            <a:r>
              <a:rPr lang="pt-BR" sz="1400" b="0" i="0" u="none" strike="noStrike">
                <a:solidFill>
                  <a:srgbClr val="6B6468"/>
                </a:solidFill>
                <a:latin typeface="+mn-lt"/>
              </a:rPr>
              <a:t>Relação de cada característica com o vinho ser premium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Relação com vinho premium</c:v>
                </c:pt>
              </c:strCache>
            </c:strRef>
          </c:tx>
          <c:spPr>
            <a:solidFill>
              <a:srgbClr val="8E2C4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F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B7B-4457-BFB1-11C0190F5547}"/>
              </c:ext>
            </c:extLst>
          </c:dPt>
          <c:dPt>
            <c:idx val="1"/>
            <c:invertIfNegative val="0"/>
            <c:bubble3D val="0"/>
            <c:spPr>
              <a:solidFill>
                <a:srgbClr val="2F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B7B-4457-BFB1-11C0190F5547}"/>
              </c:ext>
            </c:extLst>
          </c:dPt>
          <c:dPt>
            <c:idx val="2"/>
            <c:invertIfNegative val="0"/>
            <c:bubble3D val="0"/>
            <c:spPr>
              <a:solidFill>
                <a:srgbClr val="2F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B7B-4457-BFB1-11C0190F5547}"/>
              </c:ext>
            </c:extLst>
          </c:dPt>
          <c:dPt>
            <c:idx val="3"/>
            <c:invertIfNegative val="0"/>
            <c:bubble3D val="0"/>
            <c:spPr>
              <a:solidFill>
                <a:srgbClr val="2F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B7B-4457-BFB1-11C0190F5547}"/>
              </c:ext>
            </c:extLst>
          </c:dPt>
          <c:dPt>
            <c:idx val="4"/>
            <c:invertIfNegative val="0"/>
            <c:bubble3D val="0"/>
            <c:spPr>
              <a:solidFill>
                <a:srgbClr val="2F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B7B-4457-BFB1-11C0190F5547}"/>
              </c:ext>
            </c:extLst>
          </c:dPt>
          <c:dPt>
            <c:idx val="5"/>
            <c:invertIfNegative val="0"/>
            <c:bubble3D val="0"/>
            <c:spPr>
              <a:solidFill>
                <a:srgbClr val="2F6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B7B-4457-BFB1-11C0190F554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B7B-4457-BFB1-11C0190F5547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6B7B-4457-BFB1-11C0190F5547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6B7B-4457-BFB1-11C0190F5547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6B7B-4457-BFB1-11C0190F5547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6B7B-4457-BFB1-11C0190F5547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1A1C"/>
                    </a:solidFill>
                    <a:latin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Acidez volátil</c:v>
                </c:pt>
                <c:pt idx="1">
                  <c:v>Densidade</c:v>
                </c:pt>
                <c:pt idx="2">
                  <c:v>Dióxido de enxofre total</c:v>
                </c:pt>
                <c:pt idx="3">
                  <c:v>Cloretos</c:v>
                </c:pt>
                <c:pt idx="4">
                  <c:v>pH</c:v>
                </c:pt>
                <c:pt idx="5">
                  <c:v>Dióxido de enxofre livre</c:v>
                </c:pt>
                <c:pt idx="6">
                  <c:v>Açúcar residual</c:v>
                </c:pt>
                <c:pt idx="7">
                  <c:v>Acidez fixa</c:v>
                </c:pt>
                <c:pt idx="8">
                  <c:v>Sulfatos</c:v>
                </c:pt>
                <c:pt idx="9">
                  <c:v>Ácido cítrico</c:v>
                </c:pt>
                <c:pt idx="10">
                  <c:v>Teor alcoólico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-0.3</c:v>
                </c:pt>
                <c:pt idx="1">
                  <c:v>-0.15</c:v>
                </c:pt>
                <c:pt idx="2">
                  <c:v>-0.11</c:v>
                </c:pt>
                <c:pt idx="3">
                  <c:v>-0.1</c:v>
                </c:pt>
                <c:pt idx="4">
                  <c:v>-7.0000000000000007E-2</c:v>
                </c:pt>
                <c:pt idx="5">
                  <c:v>-0.06</c:v>
                </c:pt>
                <c:pt idx="6">
                  <c:v>0.06</c:v>
                </c:pt>
                <c:pt idx="7">
                  <c:v>0.12</c:v>
                </c:pt>
                <c:pt idx="8">
                  <c:v>0.21</c:v>
                </c:pt>
                <c:pt idx="9">
                  <c:v>0.25</c:v>
                </c:pt>
                <c:pt idx="1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6B7B-4457-BFB1-11C0190F55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1A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  <c:min val="-0.4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052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A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331720"/>
            <a:ext cx="9692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4251960"/>
            <a:ext cx="9692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Classificação da qualidade de vinhos  ·  Tech Challenge Fase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A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Classificação da qualidade de vinhos  ·  Tech Challenge Fase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ça círculo"/>
          <p:cNvSpPr/>
          <p:nvPr/>
        </p:nvSpPr>
        <p:spPr>
          <a:xfrm>
            <a:off x="548640" y="109728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Taça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1314450"/>
            <a:ext cx="434340" cy="43434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33172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Prevendo vinhos premium com dados de laboratório</a:t>
            </a:r>
            <a:endParaRPr lang="en-US" sz="4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4251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2000" dirty="0">
                <a:solidFill>
                  <a:schemeClr val="accent4"/>
                </a:solidFill>
              </a:rPr>
              <a:t>Classificação da qualidade de vinhos com Machine Learning</a:t>
            </a:r>
            <a:endParaRPr lang="en-US" sz="2000" dirty="0"/>
          </a:p>
        </p:txBody>
      </p:sp>
      <p:sp>
        <p:nvSpPr>
          <p:cNvPr id="6" name="Rodapé capa"/>
          <p:cNvSpPr txBox="1"/>
          <p:nvPr/>
        </p:nvSpPr>
        <p:spPr>
          <a:xfrm>
            <a:off x="54864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 ·  Fase 2  ·  Pós-Graduação em Data Analytics (POSTECH)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DESAFIO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Hoje, só a degustação diz se um vinho é premium</a:t>
            </a:r>
            <a:endParaRPr lang="en-US" sz="3400" dirty="0"/>
          </a:p>
        </p:txBody>
      </p:sp>
      <p:sp>
        <p:nvSpPr>
          <p:cNvPr id="4" name="Subjetiva círculo"/>
          <p:cNvSpPr/>
          <p:nvPr/>
        </p:nvSpPr>
        <p:spPr>
          <a:xfrm>
            <a:off x="548640" y="19659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Subjetiva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137410"/>
            <a:ext cx="342900" cy="342900"/>
          </a:xfrm>
          <a:prstGeom prst="rect">
            <a:avLst/>
          </a:prstGeom>
        </p:spPr>
      </p:pic>
      <p:sp>
        <p:nvSpPr>
          <p:cNvPr id="6" name="Subjetiva título"/>
          <p:cNvSpPr txBox="1"/>
          <p:nvPr/>
        </p:nvSpPr>
        <p:spPr>
          <a:xfrm>
            <a:off x="1508760" y="1984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Subjetiva</a:t>
            </a:r>
            <a:endParaRPr lang="en-US" sz="2000" dirty="0"/>
          </a:p>
        </p:txBody>
      </p:sp>
      <p:sp>
        <p:nvSpPr>
          <p:cNvPr id="7" name="Subjetiva texto"/>
          <p:cNvSpPr txBox="1"/>
          <p:nvPr/>
        </p:nvSpPr>
        <p:spPr>
          <a:xfrm>
            <a:off x="1508760" y="23774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percepção de cada especialista.</a:t>
            </a:r>
            <a:endParaRPr lang="en-US" sz="1500" dirty="0"/>
          </a:p>
        </p:txBody>
      </p:sp>
      <p:sp>
        <p:nvSpPr>
          <p:cNvPr id="8" name="Demorada círculo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Demorada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3463290"/>
            <a:ext cx="342900" cy="342900"/>
          </a:xfrm>
          <a:prstGeom prst="rect">
            <a:avLst/>
          </a:prstGeom>
        </p:spPr>
      </p:pic>
      <p:sp>
        <p:nvSpPr>
          <p:cNvPr id="10" name="Demorada título"/>
          <p:cNvSpPr txBox="1"/>
          <p:nvPr/>
        </p:nvSpPr>
        <p:spPr>
          <a:xfrm>
            <a:off x="1508760" y="33101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Demorada</a:t>
            </a:r>
            <a:endParaRPr lang="en-US" sz="2000" dirty="0"/>
          </a:p>
        </p:txBody>
      </p:sp>
      <p:sp>
        <p:nvSpPr>
          <p:cNvPr id="11" name="Demorada texto"/>
          <p:cNvSpPr txBox="1"/>
          <p:nvPr/>
        </p:nvSpPr>
        <p:spPr>
          <a:xfrm>
            <a:off x="1508760" y="37033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lote precisa ser provado para ser classificado.</a:t>
            </a:r>
            <a:endParaRPr lang="en-US" sz="1500" dirty="0"/>
          </a:p>
        </p:txBody>
      </p:sp>
      <p:sp>
        <p:nvSpPr>
          <p:cNvPr id="12" name="Difícil de escalar círculo"/>
          <p:cNvSpPr/>
          <p:nvPr/>
        </p:nvSpPr>
        <p:spPr>
          <a:xfrm>
            <a:off x="548640" y="46177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Difícil de escalar íc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789170"/>
            <a:ext cx="342900" cy="342900"/>
          </a:xfrm>
          <a:prstGeom prst="rect">
            <a:avLst/>
          </a:prstGeom>
        </p:spPr>
      </p:pic>
      <p:sp>
        <p:nvSpPr>
          <p:cNvPr id="14" name="Difícil de escalar título"/>
          <p:cNvSpPr txBox="1"/>
          <p:nvPr/>
        </p:nvSpPr>
        <p:spPr>
          <a:xfrm>
            <a:off x="1508760" y="4636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escalar</a:t>
            </a:r>
            <a:endParaRPr lang="en-US" sz="2000" dirty="0"/>
          </a:p>
        </p:txBody>
      </p:sp>
      <p:sp>
        <p:nvSpPr>
          <p:cNvPr id="15" name="Difícil de escalar texto"/>
          <p:cNvSpPr txBox="1"/>
          <p:nvPr/>
        </p:nvSpPr>
        <p:spPr>
          <a:xfrm>
            <a:off x="1508760" y="50292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avaliadores experientes, um recurso limitado.</a:t>
            </a:r>
            <a:endParaRPr lang="en-US" sz="1500" dirty="0"/>
          </a:p>
        </p:txBody>
      </p:sp>
      <p:sp>
        <p:nvSpPr>
          <p:cNvPr id="16" name="Cartão pergunta"/>
          <p:cNvSpPr/>
          <p:nvPr/>
        </p:nvSpPr>
        <p:spPr>
          <a:xfrm>
            <a:off x="6400800" y="1874520"/>
            <a:ext cx="5242255" cy="397764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Rótulo pergunta"/>
          <p:cNvSpPr txBox="1"/>
          <p:nvPr/>
        </p:nvSpPr>
        <p:spPr>
          <a:xfrm>
            <a:off x="6812280" y="2286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</a:t>
            </a:r>
            <a:endParaRPr lang="en-US" sz="1200" dirty="0"/>
          </a:p>
        </p:txBody>
      </p:sp>
      <p:sp>
        <p:nvSpPr>
          <p:cNvPr id="18" name="Pergunta"/>
          <p:cNvSpPr txBox="1"/>
          <p:nvPr/>
        </p:nvSpPr>
        <p:spPr>
          <a:xfrm>
            <a:off x="6812280" y="2697480"/>
            <a:ext cx="4434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de laboratório, coletados durante a produção, conseguem antecipar quais vinhos serão premium?</a:t>
            </a:r>
            <a:endParaRPr lang="en-US" sz="2400" dirty="0"/>
          </a:p>
        </p:txBody>
      </p:sp>
      <p:sp>
        <p:nvSpPr>
          <p:cNvPr id="19" name="Definição premium"/>
          <p:cNvSpPr txBox="1"/>
          <p:nvPr/>
        </p:nvSpPr>
        <p:spPr>
          <a:xfrm>
            <a:off x="6812280" y="498348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= nota 7 ou mais, numa escala de 0 a 10 dada por especialistas.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PONTO DE PARTIDA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Vinhos premium são raros: apenas 1 em cada 7</a:t>
            </a:r>
            <a:endParaRPr lang="en-US" sz="3400" dirty="0"/>
          </a:p>
        </p:txBody>
      </p:sp>
      <p:sp>
        <p:nvSpPr>
          <p:cNvPr id="4" name="Estatística premium"/>
          <p:cNvSpPr txBox="1"/>
          <p:nvPr/>
        </p:nvSpPr>
        <p:spPr>
          <a:xfrm>
            <a:off x="548640" y="18288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13,9%</a:t>
            </a:r>
            <a:endParaRPr lang="en-US" sz="7200" dirty="0"/>
          </a:p>
        </p:txBody>
      </p:sp>
      <p:sp>
        <p:nvSpPr>
          <p:cNvPr id="5" name="Legenda estatística"/>
          <p:cNvSpPr txBox="1"/>
          <p:nvPr/>
        </p:nvSpPr>
        <p:spPr>
          <a:xfrm>
            <a:off x="548640" y="30175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1.143 vinhos analisados são premium (159 vinhos)</a:t>
            </a:r>
            <a:endParaRPr lang="en-US" sz="1800" dirty="0"/>
          </a:p>
        </p:txBody>
      </p:sp>
      <p:sp>
        <p:nvSpPr>
          <p:cNvPr id="6" name="Cartão implicação"/>
          <p:cNvSpPr/>
          <p:nvPr/>
        </p:nvSpPr>
        <p:spPr>
          <a:xfrm>
            <a:off x="548640" y="3977640"/>
            <a:ext cx="51206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Implicação título"/>
          <p:cNvSpPr txBox="1"/>
          <p:nvPr/>
        </p:nvSpPr>
        <p:spPr>
          <a:xfrm>
            <a:off x="86868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</a:t>
            </a:r>
            <a:endParaRPr lang="en-US" sz="1600" dirty="0"/>
          </a:p>
        </p:txBody>
      </p:sp>
      <p:sp>
        <p:nvSpPr>
          <p:cNvPr id="8" name="Implicação texto"/>
          <p:cNvSpPr txBox="1"/>
          <p:nvPr/>
        </p:nvSpPr>
        <p:spPr>
          <a:xfrm>
            <a:off x="868680" y="457200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que nenhum vinho é premium já acertaria 86% das vezes, sem ajudar em nada. O que importa é encontrar os premium.</a:t>
            </a:r>
            <a:endParaRPr lang="en-US" sz="1500" dirty="0"/>
          </a:p>
        </p:txBody>
      </p:sp>
      <p:graphicFrame>
        <p:nvGraphicFramePr>
          <p:cNvPr id="9" name="Gráfico balanceamento"/>
          <p:cNvGraphicFramePr/>
          <p:nvPr/>
        </p:nvGraphicFramePr>
        <p:xfrm>
          <a:off x="6309360" y="1783080"/>
          <a:ext cx="5333695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DIFERENCIA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Vinhos premium têm um perfil químico diferente</a:t>
            </a:r>
            <a:endParaRPr lang="en-US" sz="3400" dirty="0"/>
          </a:p>
        </p:txBody>
      </p:sp>
      <p:sp>
        <p:nvSpPr>
          <p:cNvPr id="4" name="Subtítulo perfil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típico (mediana) de cada característica nos vinhos comuns e nos premium</a:t>
            </a:r>
            <a:endParaRPr lang="en-US" sz="1600" dirty="0"/>
          </a:p>
        </p:txBody>
      </p:sp>
      <p:sp>
        <p:nvSpPr>
          <p:cNvPr id="5" name="Teor alcoólico cartão"/>
          <p:cNvSpPr/>
          <p:nvPr/>
        </p:nvSpPr>
        <p:spPr>
          <a:xfrm>
            <a:off x="548640" y="2148840"/>
            <a:ext cx="2567864" cy="3840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or alcoólico círculo"/>
          <p:cNvSpPr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Teor alcoólico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560320"/>
            <a:ext cx="274320" cy="274320"/>
          </a:xfrm>
          <a:prstGeom prst="rect">
            <a:avLst/>
          </a:prstGeom>
        </p:spPr>
      </p:pic>
      <p:sp>
        <p:nvSpPr>
          <p:cNvPr id="8" name="Teor alcoólico nome"/>
          <p:cNvSpPr txBox="1"/>
          <p:nvPr/>
        </p:nvSpPr>
        <p:spPr>
          <a:xfrm>
            <a:off x="822960" y="31089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</a:t>
            </a:r>
            <a:endParaRPr lang="en-US" sz="1900" dirty="0"/>
          </a:p>
        </p:txBody>
      </p:sp>
      <p:sp>
        <p:nvSpPr>
          <p:cNvPr id="9" name="Teor alcoólico descrição"/>
          <p:cNvSpPr txBox="1"/>
          <p:nvPr/>
        </p:nvSpPr>
        <p:spPr>
          <a:xfrm>
            <a:off x="822960" y="347472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Ligado à maturação da uva</a:t>
            </a:r>
            <a:endParaRPr lang="en-US" sz="1300" dirty="0"/>
          </a:p>
        </p:txBody>
      </p:sp>
      <p:sp>
        <p:nvSpPr>
          <p:cNvPr id="10" name="Teor alcoólico rótulo comuns"/>
          <p:cNvSpPr txBox="1"/>
          <p:nvPr/>
        </p:nvSpPr>
        <p:spPr>
          <a:xfrm>
            <a:off x="822960" y="40690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endParaRPr lang="en-US" sz="1200" dirty="0"/>
          </a:p>
        </p:txBody>
      </p:sp>
      <p:sp>
        <p:nvSpPr>
          <p:cNvPr id="11" name="Teor alcoólico valor comuns"/>
          <p:cNvSpPr txBox="1"/>
          <p:nvPr/>
        </p:nvSpPr>
        <p:spPr>
          <a:xfrm>
            <a:off x="822960" y="42976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10,0%</a:t>
            </a:r>
            <a:endParaRPr lang="en-US" sz="2400" dirty="0"/>
          </a:p>
        </p:txBody>
      </p:sp>
      <p:sp>
        <p:nvSpPr>
          <p:cNvPr id="12" name="Teor alcoólico rótulo premium"/>
          <p:cNvSpPr txBox="1"/>
          <p:nvPr/>
        </p:nvSpPr>
        <p:spPr>
          <a:xfrm>
            <a:off x="822960" y="48463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13" name="Teor alcoólico valor premium"/>
          <p:cNvSpPr txBox="1"/>
          <p:nvPr/>
        </p:nvSpPr>
        <p:spPr>
          <a:xfrm>
            <a:off x="822960" y="50749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11,6%</a:t>
            </a:r>
            <a:endParaRPr lang="en-US" sz="2400" dirty="0"/>
          </a:p>
        </p:txBody>
      </p:sp>
      <p:sp>
        <p:nvSpPr>
          <p:cNvPr id="14" name="Teor alcoólico diferença"/>
          <p:cNvSpPr txBox="1"/>
          <p:nvPr/>
        </p:nvSpPr>
        <p:spPr>
          <a:xfrm>
            <a:off x="822960" y="5532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+1,6 ponto</a:t>
            </a:r>
            <a:endParaRPr lang="en-US" sz="1400" dirty="0"/>
          </a:p>
        </p:txBody>
      </p:sp>
      <p:sp>
        <p:nvSpPr>
          <p:cNvPr id="15" name="Acidez volátil cartão"/>
          <p:cNvSpPr/>
          <p:nvPr/>
        </p:nvSpPr>
        <p:spPr>
          <a:xfrm>
            <a:off x="3390824" y="2148840"/>
            <a:ext cx="2567864" cy="3840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Acidez volátil círculo"/>
          <p:cNvSpPr/>
          <p:nvPr/>
        </p:nvSpPr>
        <p:spPr>
          <a:xfrm>
            <a:off x="3665144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Acidez volátil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304" y="2560320"/>
            <a:ext cx="274320" cy="274320"/>
          </a:xfrm>
          <a:prstGeom prst="rect">
            <a:avLst/>
          </a:prstGeom>
        </p:spPr>
      </p:pic>
      <p:sp>
        <p:nvSpPr>
          <p:cNvPr id="18" name="Acidez volátil nome"/>
          <p:cNvSpPr txBox="1"/>
          <p:nvPr/>
        </p:nvSpPr>
        <p:spPr>
          <a:xfrm>
            <a:off x="3665144" y="31089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</a:t>
            </a:r>
            <a:endParaRPr lang="en-US" sz="1900" dirty="0"/>
          </a:p>
        </p:txBody>
      </p:sp>
      <p:sp>
        <p:nvSpPr>
          <p:cNvPr id="19" name="Acidez volátil descrição"/>
          <p:cNvSpPr txBox="1"/>
          <p:nvPr/>
        </p:nvSpPr>
        <p:spPr>
          <a:xfrm>
            <a:off x="3665144" y="347472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excesso, dá gosto de vinagre</a:t>
            </a:r>
            <a:endParaRPr lang="en-US" sz="1300" dirty="0"/>
          </a:p>
        </p:txBody>
      </p:sp>
      <p:sp>
        <p:nvSpPr>
          <p:cNvPr id="20" name="Acidez volátil rótulo comuns"/>
          <p:cNvSpPr txBox="1"/>
          <p:nvPr/>
        </p:nvSpPr>
        <p:spPr>
          <a:xfrm>
            <a:off x="3665144" y="40690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endParaRPr lang="en-US" sz="1200" dirty="0"/>
          </a:p>
        </p:txBody>
      </p:sp>
      <p:sp>
        <p:nvSpPr>
          <p:cNvPr id="21" name="Acidez volátil valor comuns"/>
          <p:cNvSpPr txBox="1"/>
          <p:nvPr/>
        </p:nvSpPr>
        <p:spPr>
          <a:xfrm>
            <a:off x="3665144" y="42976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 g/L</a:t>
            </a:r>
            <a:endParaRPr lang="en-US" sz="2400" dirty="0"/>
          </a:p>
        </p:txBody>
      </p:sp>
      <p:sp>
        <p:nvSpPr>
          <p:cNvPr id="22" name="Acidez volátil rótulo premium"/>
          <p:cNvSpPr txBox="1"/>
          <p:nvPr/>
        </p:nvSpPr>
        <p:spPr>
          <a:xfrm>
            <a:off x="3665144" y="48463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23" name="Acidez volátil valor premium"/>
          <p:cNvSpPr txBox="1"/>
          <p:nvPr/>
        </p:nvSpPr>
        <p:spPr>
          <a:xfrm>
            <a:off x="3665144" y="50749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0,36 g/L</a:t>
            </a:r>
            <a:endParaRPr lang="en-US" sz="2400" dirty="0"/>
          </a:p>
        </p:txBody>
      </p:sp>
      <p:sp>
        <p:nvSpPr>
          <p:cNvPr id="24" name="Acidez volátil diferença"/>
          <p:cNvSpPr txBox="1"/>
          <p:nvPr/>
        </p:nvSpPr>
        <p:spPr>
          <a:xfrm>
            <a:off x="3665144" y="5532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−35%</a:t>
            </a:r>
            <a:endParaRPr lang="en-US" sz="1400" dirty="0"/>
          </a:p>
        </p:txBody>
      </p:sp>
      <p:sp>
        <p:nvSpPr>
          <p:cNvPr id="25" name="Sulfatos cartão"/>
          <p:cNvSpPr/>
          <p:nvPr/>
        </p:nvSpPr>
        <p:spPr>
          <a:xfrm>
            <a:off x="6233008" y="2148840"/>
            <a:ext cx="2567864" cy="3840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ulfatos círculo"/>
          <p:cNvSpPr/>
          <p:nvPr/>
        </p:nvSpPr>
        <p:spPr>
          <a:xfrm>
            <a:off x="6507328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Sulfatos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2560320"/>
            <a:ext cx="274320" cy="274320"/>
          </a:xfrm>
          <a:prstGeom prst="rect">
            <a:avLst/>
          </a:prstGeom>
        </p:spPr>
      </p:pic>
      <p:sp>
        <p:nvSpPr>
          <p:cNvPr id="28" name="Sulfatos nome"/>
          <p:cNvSpPr txBox="1"/>
          <p:nvPr/>
        </p:nvSpPr>
        <p:spPr>
          <a:xfrm>
            <a:off x="6507328" y="31089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1900" dirty="0"/>
          </a:p>
        </p:txBody>
      </p:sp>
      <p:sp>
        <p:nvSpPr>
          <p:cNvPr id="29" name="Sulfatos descrição"/>
          <p:cNvSpPr txBox="1"/>
          <p:nvPr/>
        </p:nvSpPr>
        <p:spPr>
          <a:xfrm>
            <a:off x="6507328" y="347472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Ajudam na conservação</a:t>
            </a:r>
            <a:endParaRPr lang="en-US" sz="1300" dirty="0"/>
          </a:p>
        </p:txBody>
      </p:sp>
      <p:sp>
        <p:nvSpPr>
          <p:cNvPr id="30" name="Sulfatos rótulo comuns"/>
          <p:cNvSpPr txBox="1"/>
          <p:nvPr/>
        </p:nvSpPr>
        <p:spPr>
          <a:xfrm>
            <a:off x="6507328" y="40690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endParaRPr lang="en-US" sz="1200" dirty="0"/>
          </a:p>
        </p:txBody>
      </p:sp>
      <p:sp>
        <p:nvSpPr>
          <p:cNvPr id="31" name="Sulfatos valor comuns"/>
          <p:cNvSpPr txBox="1"/>
          <p:nvPr/>
        </p:nvSpPr>
        <p:spPr>
          <a:xfrm>
            <a:off x="6507328" y="42976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0,60 g/L</a:t>
            </a:r>
            <a:endParaRPr lang="en-US" sz="2400" dirty="0"/>
          </a:p>
        </p:txBody>
      </p:sp>
      <p:sp>
        <p:nvSpPr>
          <p:cNvPr id="32" name="Sulfatos rótulo premium"/>
          <p:cNvSpPr txBox="1"/>
          <p:nvPr/>
        </p:nvSpPr>
        <p:spPr>
          <a:xfrm>
            <a:off x="6507328" y="48463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33" name="Sulfatos valor premium"/>
          <p:cNvSpPr txBox="1"/>
          <p:nvPr/>
        </p:nvSpPr>
        <p:spPr>
          <a:xfrm>
            <a:off x="6507328" y="50749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0,74 g/L</a:t>
            </a:r>
            <a:endParaRPr lang="en-US" sz="2400" dirty="0"/>
          </a:p>
        </p:txBody>
      </p:sp>
      <p:sp>
        <p:nvSpPr>
          <p:cNvPr id="34" name="Sulfatos diferença"/>
          <p:cNvSpPr txBox="1"/>
          <p:nvPr/>
        </p:nvSpPr>
        <p:spPr>
          <a:xfrm>
            <a:off x="6507328" y="5532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1400" dirty="0"/>
          </a:p>
        </p:txBody>
      </p:sp>
      <p:sp>
        <p:nvSpPr>
          <p:cNvPr id="35" name="Ácido cítrico cartão"/>
          <p:cNvSpPr/>
          <p:nvPr/>
        </p:nvSpPr>
        <p:spPr>
          <a:xfrm>
            <a:off x="9075191" y="2148840"/>
            <a:ext cx="2567864" cy="3840480"/>
          </a:xfrm>
          <a:prstGeom prst="roundRect">
            <a:avLst>
              <a:gd name="adj" fmla="val 4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Ácido cítrico círculo"/>
          <p:cNvSpPr/>
          <p:nvPr/>
        </p:nvSpPr>
        <p:spPr>
          <a:xfrm>
            <a:off x="9349511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7" name="Ácido cítrico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671" y="2560320"/>
            <a:ext cx="274320" cy="274320"/>
          </a:xfrm>
          <a:prstGeom prst="rect">
            <a:avLst/>
          </a:prstGeom>
        </p:spPr>
      </p:pic>
      <p:sp>
        <p:nvSpPr>
          <p:cNvPr id="38" name="Ácido cítrico nome"/>
          <p:cNvSpPr txBox="1"/>
          <p:nvPr/>
        </p:nvSpPr>
        <p:spPr>
          <a:xfrm>
            <a:off x="9349511" y="310896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cítrico</a:t>
            </a:r>
            <a:endParaRPr lang="en-US" sz="1900" dirty="0"/>
          </a:p>
        </p:txBody>
      </p:sp>
      <p:sp>
        <p:nvSpPr>
          <p:cNvPr id="39" name="Ácido cítrico descrição"/>
          <p:cNvSpPr txBox="1"/>
          <p:nvPr/>
        </p:nvSpPr>
        <p:spPr>
          <a:xfrm>
            <a:off x="9349511" y="347472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 para o frescor</a:t>
            </a:r>
            <a:endParaRPr lang="en-US" sz="1300" dirty="0"/>
          </a:p>
        </p:txBody>
      </p:sp>
      <p:sp>
        <p:nvSpPr>
          <p:cNvPr id="40" name="Ácido cítrico rótulo comuns"/>
          <p:cNvSpPr txBox="1"/>
          <p:nvPr/>
        </p:nvSpPr>
        <p:spPr>
          <a:xfrm>
            <a:off x="9349511" y="406908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Comuns</a:t>
            </a:r>
            <a:endParaRPr lang="en-US" sz="1200" dirty="0"/>
          </a:p>
        </p:txBody>
      </p:sp>
      <p:sp>
        <p:nvSpPr>
          <p:cNvPr id="41" name="Ácido cítrico valor comuns"/>
          <p:cNvSpPr txBox="1"/>
          <p:nvPr/>
        </p:nvSpPr>
        <p:spPr>
          <a:xfrm>
            <a:off x="9349511" y="429768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0,24 g/L</a:t>
            </a:r>
            <a:endParaRPr lang="en-US" sz="2400" dirty="0"/>
          </a:p>
        </p:txBody>
      </p:sp>
      <p:sp>
        <p:nvSpPr>
          <p:cNvPr id="42" name="Ácido cítrico rótulo premium"/>
          <p:cNvSpPr txBox="1"/>
          <p:nvPr/>
        </p:nvSpPr>
        <p:spPr>
          <a:xfrm>
            <a:off x="9349511" y="4846320"/>
            <a:ext cx="201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200" dirty="0"/>
          </a:p>
        </p:txBody>
      </p:sp>
      <p:sp>
        <p:nvSpPr>
          <p:cNvPr id="43" name="Ácido cítrico valor premium"/>
          <p:cNvSpPr txBox="1"/>
          <p:nvPr/>
        </p:nvSpPr>
        <p:spPr>
          <a:xfrm>
            <a:off x="9349511" y="507492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0,41 g/L</a:t>
            </a:r>
            <a:endParaRPr lang="en-US" sz="2400" dirty="0"/>
          </a:p>
        </p:txBody>
      </p:sp>
      <p:sp>
        <p:nvSpPr>
          <p:cNvPr id="44" name="Ácido cítrico diferença"/>
          <p:cNvSpPr txBox="1"/>
          <p:nvPr/>
        </p:nvSpPr>
        <p:spPr>
          <a:xfrm>
            <a:off x="9349511" y="553212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+71%</a:t>
            </a: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CORRELAÇÕES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Nenhum fator decide sozinho</a:t>
            </a:r>
            <a:endParaRPr lang="en-US" sz="3400" dirty="0"/>
          </a:p>
        </p:txBody>
      </p:sp>
      <p:graphicFrame>
        <p:nvGraphicFramePr>
          <p:cNvPr id="4" name="Gráfico correlações"/>
          <p:cNvGraphicFramePr/>
          <p:nvPr/>
        </p:nvGraphicFramePr>
        <p:xfrm>
          <a:off x="548640" y="1691640"/>
          <a:ext cx="676656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artão destaque"/>
          <p:cNvSpPr/>
          <p:nvPr/>
        </p:nvSpPr>
        <p:spPr>
          <a:xfrm>
            <a:off x="7726680" y="1783080"/>
            <a:ext cx="3916375" cy="1965960"/>
          </a:xfrm>
          <a:prstGeom prst="roundRect">
            <a:avLst>
              <a:gd name="adj" fmla="val 558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Destaque valor"/>
          <p:cNvSpPr txBox="1"/>
          <p:nvPr/>
        </p:nvSpPr>
        <p:spPr>
          <a:xfrm>
            <a:off x="8046720" y="1965960"/>
            <a:ext cx="3276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0,40</a:t>
            </a:r>
            <a:endParaRPr lang="en-US" sz="4800" dirty="0"/>
          </a:p>
        </p:txBody>
      </p:sp>
      <p:sp>
        <p:nvSpPr>
          <p:cNvPr id="7" name="Destaque texto"/>
          <p:cNvSpPr txBox="1"/>
          <p:nvPr/>
        </p:nvSpPr>
        <p:spPr>
          <a:xfrm>
            <a:off x="8046720" y="2788920"/>
            <a:ext cx="3276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relação mais forte, do teor alcoólico, e ainda assim moderada</a:t>
            </a:r>
            <a:endParaRPr lang="en-US" sz="1500" dirty="0"/>
          </a:p>
        </p:txBody>
      </p:sp>
      <p:sp>
        <p:nvSpPr>
          <p:cNvPr id="8" name="Como ler título"/>
          <p:cNvSpPr txBox="1"/>
          <p:nvPr/>
        </p:nvSpPr>
        <p:spPr>
          <a:xfrm>
            <a:off x="7726680" y="397764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600" dirty="0"/>
          </a:p>
        </p:txBody>
      </p:sp>
      <p:sp>
        <p:nvSpPr>
          <p:cNvPr id="9" name="Como ler texto"/>
          <p:cNvSpPr txBox="1"/>
          <p:nvPr/>
        </p:nvSpPr>
        <p:spPr>
          <a:xfrm>
            <a:off x="7726680" y="4343400"/>
            <a:ext cx="39163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Vinho: </a:t>
            </a: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maior, mais chance de ser premium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</a:t>
            </a: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maior, menos chance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Perto de 0: </a:t>
            </a: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 relação</a:t>
            </a:r>
            <a:endParaRPr lang="en-US" sz="1400" dirty="0"/>
          </a:p>
        </p:txBody>
      </p:sp>
      <p:sp>
        <p:nvSpPr>
          <p:cNvPr id="10" name="Conclusão correlação"/>
          <p:cNvSpPr txBox="1"/>
          <p:nvPr/>
        </p:nvSpPr>
        <p:spPr>
          <a:xfrm>
            <a:off x="7726680" y="5440680"/>
            <a:ext cx="39163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isso, o modelo precisa combinar várias características.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QUALIDADE DOS DADOS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Antes de concluir, garantimos dados confiáveis</a:t>
            </a:r>
            <a:endParaRPr lang="en-US" sz="3400" dirty="0"/>
          </a:p>
        </p:txBody>
      </p:sp>
      <p:sp>
        <p:nvSpPr>
          <p:cNvPr id="4" name="Fluxo 1"/>
          <p:cNvSpPr/>
          <p:nvPr/>
        </p:nvSpPr>
        <p:spPr>
          <a:xfrm>
            <a:off x="548640" y="1828800"/>
            <a:ext cx="3154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Fluxo número 1"/>
          <p:cNvSpPr txBox="1"/>
          <p:nvPr/>
        </p:nvSpPr>
        <p:spPr>
          <a:xfrm>
            <a:off x="8229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1.143</a:t>
            </a:r>
            <a:endParaRPr lang="en-US" sz="3600" dirty="0"/>
          </a:p>
        </p:txBody>
      </p:sp>
      <p:sp>
        <p:nvSpPr>
          <p:cNvPr id="6" name="Fluxo texto 1"/>
          <p:cNvSpPr txBox="1"/>
          <p:nvPr/>
        </p:nvSpPr>
        <p:spPr>
          <a:xfrm>
            <a:off x="822960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na base original</a:t>
            </a:r>
            <a:endParaRPr lang="en-US" sz="1500" dirty="0"/>
          </a:p>
        </p:txBody>
      </p:sp>
      <p:sp>
        <p:nvSpPr>
          <p:cNvPr id="7" name="Seta 1"/>
          <p:cNvSpPr/>
          <p:nvPr/>
        </p:nvSpPr>
        <p:spPr>
          <a:xfrm>
            <a:off x="3909746" y="2377440"/>
            <a:ext cx="402336" cy="36576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Fluxo 2"/>
          <p:cNvSpPr/>
          <p:nvPr/>
        </p:nvSpPr>
        <p:spPr>
          <a:xfrm>
            <a:off x="4518508" y="1828800"/>
            <a:ext cx="315468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Fluxo número 2"/>
          <p:cNvSpPr txBox="1"/>
          <p:nvPr/>
        </p:nvSpPr>
        <p:spPr>
          <a:xfrm>
            <a:off x="4792828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−125</a:t>
            </a:r>
            <a:endParaRPr lang="en-US" sz="3600" dirty="0"/>
          </a:p>
        </p:txBody>
      </p:sp>
      <p:sp>
        <p:nvSpPr>
          <p:cNvPr id="10" name="Fluxo texto 2"/>
          <p:cNvSpPr txBox="1"/>
          <p:nvPr/>
        </p:nvSpPr>
        <p:spPr>
          <a:xfrm>
            <a:off x="4792828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duplicados removidos</a:t>
            </a:r>
            <a:endParaRPr lang="en-US" sz="1500" dirty="0"/>
          </a:p>
        </p:txBody>
      </p:sp>
      <p:sp>
        <p:nvSpPr>
          <p:cNvPr id="11" name="Seta 2"/>
          <p:cNvSpPr/>
          <p:nvPr/>
        </p:nvSpPr>
        <p:spPr>
          <a:xfrm>
            <a:off x="7879613" y="2377440"/>
            <a:ext cx="402336" cy="365760"/>
          </a:xfrm>
          <a:prstGeom prst="rightArrow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Fluxo 3"/>
          <p:cNvSpPr/>
          <p:nvPr/>
        </p:nvSpPr>
        <p:spPr>
          <a:xfrm>
            <a:off x="8488375" y="1828800"/>
            <a:ext cx="3154680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Fluxo número 3"/>
          <p:cNvSpPr txBox="1"/>
          <p:nvPr/>
        </p:nvSpPr>
        <p:spPr>
          <a:xfrm>
            <a:off x="8762695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1.018</a:t>
            </a:r>
            <a:endParaRPr lang="en-US" sz="3600" dirty="0"/>
          </a:p>
        </p:txBody>
      </p:sp>
      <p:sp>
        <p:nvSpPr>
          <p:cNvPr id="14" name="Fluxo texto 3"/>
          <p:cNvSpPr txBox="1"/>
          <p:nvPr/>
        </p:nvSpPr>
        <p:spPr>
          <a:xfrm>
            <a:off x="8762695" y="2697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únicos analisados</a:t>
            </a:r>
            <a:endParaRPr lang="en-US" sz="1500" dirty="0"/>
          </a:p>
        </p:txBody>
      </p:sp>
      <p:sp>
        <p:nvSpPr>
          <p:cNvPr id="15" name="Sem dados faltantes círculo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Sem dados faltantes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94760"/>
            <a:ext cx="274320" cy="274320"/>
          </a:xfrm>
          <a:prstGeom prst="rect">
            <a:avLst/>
          </a:prstGeom>
        </p:spPr>
      </p:pic>
      <p:sp>
        <p:nvSpPr>
          <p:cNvPr id="17" name="Sem dados faltantes título"/>
          <p:cNvSpPr txBox="1"/>
          <p:nvPr/>
        </p:nvSpPr>
        <p:spPr>
          <a:xfrm>
            <a:off x="548640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 faltantes</a:t>
            </a:r>
            <a:endParaRPr lang="en-US" sz="1800" dirty="0"/>
          </a:p>
        </p:txBody>
      </p:sp>
      <p:sp>
        <p:nvSpPr>
          <p:cNvPr id="18" name="Sem dados faltantes texto"/>
          <p:cNvSpPr txBox="1"/>
          <p:nvPr/>
        </p:nvSpPr>
        <p:spPr>
          <a:xfrm>
            <a:off x="548640" y="4800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medições estão completas em todos os vinhos.</a:t>
            </a:r>
            <a:endParaRPr lang="en-US" sz="1400" dirty="0"/>
          </a:p>
        </p:txBody>
      </p:sp>
      <p:sp>
        <p:nvSpPr>
          <p:cNvPr id="19" name="Extremos mantidos círculo"/>
          <p:cNvSpPr/>
          <p:nvPr/>
        </p:nvSpPr>
        <p:spPr>
          <a:xfrm>
            <a:off x="4518508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Extremos mantidos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668" y="3794760"/>
            <a:ext cx="274320" cy="274320"/>
          </a:xfrm>
          <a:prstGeom prst="rect">
            <a:avLst/>
          </a:prstGeom>
        </p:spPr>
      </p:pic>
      <p:sp>
        <p:nvSpPr>
          <p:cNvPr id="21" name="Extremos mantidos título"/>
          <p:cNvSpPr txBox="1"/>
          <p:nvPr/>
        </p:nvSpPr>
        <p:spPr>
          <a:xfrm>
            <a:off x="4518508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 mantidos</a:t>
            </a:r>
            <a:endParaRPr lang="en-US" sz="1800" dirty="0"/>
          </a:p>
        </p:txBody>
      </p:sp>
      <p:sp>
        <p:nvSpPr>
          <p:cNvPr id="22" name="Extremos mantidos texto"/>
          <p:cNvSpPr txBox="1"/>
          <p:nvPr/>
        </p:nvSpPr>
        <p:spPr>
          <a:xfrm>
            <a:off x="4518508" y="4800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 dos vinhos têm algum valor extremo. Excluí-los descartaria 1 em cada 3 premium; foram suavizados, não removidos.</a:t>
            </a:r>
            <a:endParaRPr lang="en-US" sz="1400" dirty="0"/>
          </a:p>
        </p:txBody>
      </p:sp>
      <p:sp>
        <p:nvSpPr>
          <p:cNvPr id="23" name="Avaliação justa círculo"/>
          <p:cNvSpPr/>
          <p:nvPr/>
        </p:nvSpPr>
        <p:spPr>
          <a:xfrm>
            <a:off x="8488375" y="3657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Avaliação justa íc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535" y="3794760"/>
            <a:ext cx="274320" cy="274320"/>
          </a:xfrm>
          <a:prstGeom prst="rect">
            <a:avLst/>
          </a:prstGeom>
        </p:spPr>
      </p:pic>
      <p:sp>
        <p:nvSpPr>
          <p:cNvPr id="25" name="Avaliação justa título"/>
          <p:cNvSpPr txBox="1"/>
          <p:nvPr/>
        </p:nvSpPr>
        <p:spPr>
          <a:xfrm>
            <a:off x="8488375" y="4389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justa</a:t>
            </a:r>
            <a:endParaRPr lang="en-US" sz="1800" dirty="0"/>
          </a:p>
        </p:txBody>
      </p:sp>
      <p:sp>
        <p:nvSpPr>
          <p:cNvPr id="26" name="Avaliação justa texto"/>
          <p:cNvSpPr txBox="1"/>
          <p:nvPr/>
        </p:nvSpPr>
        <p:spPr>
          <a:xfrm>
            <a:off x="8488375" y="480060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dos vinhos ficaram guardados e só foram usados para testar o modelo no final.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RESULTADO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Com o modelo, quase 2 em cada 3 indicações são premium</a:t>
            </a:r>
            <a:endParaRPr lang="en-US" sz="3400" dirty="0"/>
          </a:p>
        </p:txBody>
      </p:sp>
      <p:sp>
        <p:nvSpPr>
          <p:cNvPr id="4" name="Cartão sem modelo"/>
          <p:cNvSpPr/>
          <p:nvPr/>
        </p:nvSpPr>
        <p:spPr>
          <a:xfrm>
            <a:off x="548640" y="1783080"/>
            <a:ext cx="4998568" cy="2377440"/>
          </a:xfrm>
          <a:prstGeom prst="roundRect">
            <a:avLst>
              <a:gd name="adj" fmla="val 4615"/>
            </a:avLst>
          </a:prstGeom>
          <a:solidFill>
            <a:srgbClr val="2A1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Rótulo sem modelo"/>
          <p:cNvSpPr txBox="1"/>
          <p:nvPr/>
        </p:nvSpPr>
        <p:spPr>
          <a:xfrm>
            <a:off x="960120" y="205740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MODELO</a:t>
            </a:r>
            <a:endParaRPr lang="en-US" sz="1200" dirty="0"/>
          </a:p>
        </p:txBody>
      </p:sp>
      <p:sp>
        <p:nvSpPr>
          <p:cNvPr id="6" name="Valor sem modelo"/>
          <p:cNvSpPr txBox="1"/>
          <p:nvPr/>
        </p:nvSpPr>
        <p:spPr>
          <a:xfrm>
            <a:off x="960120" y="2377440"/>
            <a:ext cx="4175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6600" dirty="0"/>
          </a:p>
        </p:txBody>
      </p:sp>
      <p:sp>
        <p:nvSpPr>
          <p:cNvPr id="7" name="Texto sem modelo"/>
          <p:cNvSpPr txBox="1"/>
          <p:nvPr/>
        </p:nvSpPr>
        <p:spPr>
          <a:xfrm>
            <a:off x="960120" y="342900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escolhidos ao acaso são premium</a:t>
            </a:r>
            <a:endParaRPr lang="en-US" sz="1700" dirty="0"/>
          </a:p>
        </p:txBody>
      </p:sp>
      <p:sp>
        <p:nvSpPr>
          <p:cNvPr id="8" name="Seta resultado"/>
          <p:cNvSpPr/>
          <p:nvPr/>
        </p:nvSpPr>
        <p:spPr>
          <a:xfrm>
            <a:off x="5821528" y="2743200"/>
            <a:ext cx="548640" cy="45720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Cartão com modelo"/>
          <p:cNvSpPr/>
          <p:nvPr/>
        </p:nvSpPr>
        <p:spPr>
          <a:xfrm>
            <a:off x="6644488" y="1783080"/>
            <a:ext cx="4998568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Rótulo com modelo"/>
          <p:cNvSpPr txBox="1"/>
          <p:nvPr/>
        </p:nvSpPr>
        <p:spPr>
          <a:xfrm>
            <a:off x="7055968" y="2057400"/>
            <a:ext cx="4175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MODELO</a:t>
            </a:r>
            <a:endParaRPr lang="en-US" sz="1200" dirty="0"/>
          </a:p>
        </p:txBody>
      </p:sp>
      <p:sp>
        <p:nvSpPr>
          <p:cNvPr id="11" name="Valor com modelo"/>
          <p:cNvSpPr txBox="1"/>
          <p:nvPr/>
        </p:nvSpPr>
        <p:spPr>
          <a:xfrm>
            <a:off x="7055968" y="2377440"/>
            <a:ext cx="4175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6600" dirty="0"/>
          </a:p>
        </p:txBody>
      </p:sp>
      <p:sp>
        <p:nvSpPr>
          <p:cNvPr id="12" name="Texto com modelo"/>
          <p:cNvSpPr txBox="1"/>
          <p:nvPr/>
        </p:nvSpPr>
        <p:spPr>
          <a:xfrm>
            <a:off x="7055968" y="3429000"/>
            <a:ext cx="417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vinhos indicados pelo modelo são premium</a:t>
            </a:r>
            <a:endParaRPr lang="en-US" sz="1700" dirty="0"/>
          </a:p>
        </p:txBody>
      </p:sp>
      <p:sp>
        <p:nvSpPr>
          <p:cNvPr id="13" name="Mini valor 1"/>
          <p:cNvSpPr txBox="1"/>
          <p:nvPr/>
        </p:nvSpPr>
        <p:spPr>
          <a:xfrm>
            <a:off x="548640" y="448056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4,8×</a:t>
            </a:r>
            <a:endParaRPr lang="en-US" sz="3200" dirty="0"/>
          </a:p>
        </p:txBody>
      </p:sp>
      <p:sp>
        <p:nvSpPr>
          <p:cNvPr id="14" name="Mini texto 1"/>
          <p:cNvSpPr txBox="1"/>
          <p:nvPr/>
        </p:nvSpPr>
        <p:spPr>
          <a:xfrm>
            <a:off x="548640" y="51206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chance de acertar um vinho premium</a:t>
            </a:r>
            <a:endParaRPr lang="en-US" sz="1500" dirty="0"/>
          </a:p>
        </p:txBody>
      </p:sp>
      <p:sp>
        <p:nvSpPr>
          <p:cNvPr id="15" name="Mini valor 2"/>
          <p:cNvSpPr txBox="1"/>
          <p:nvPr/>
        </p:nvSpPr>
        <p:spPr>
          <a:xfrm>
            <a:off x="4368698" y="448056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22</a:t>
            </a:r>
            <a:endParaRPr lang="en-US" sz="3200" dirty="0"/>
          </a:p>
        </p:txBody>
      </p:sp>
      <p:sp>
        <p:nvSpPr>
          <p:cNvPr id="16" name="Mini texto 2"/>
          <p:cNvSpPr txBox="1"/>
          <p:nvPr/>
        </p:nvSpPr>
        <p:spPr>
          <a:xfrm>
            <a:off x="4368698" y="51206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indicações do modelo estavam corretas</a:t>
            </a:r>
            <a:endParaRPr lang="en-US" sz="1500" dirty="0"/>
          </a:p>
        </p:txBody>
      </p:sp>
      <p:sp>
        <p:nvSpPr>
          <p:cNvPr id="17" name="Mini valor 3"/>
          <p:cNvSpPr txBox="1"/>
          <p:nvPr/>
        </p:nvSpPr>
        <p:spPr>
          <a:xfrm>
            <a:off x="8188757" y="448056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de 27</a:t>
            </a:r>
            <a:endParaRPr lang="en-US" sz="3200" dirty="0"/>
          </a:p>
        </p:txBody>
      </p:sp>
      <p:sp>
        <p:nvSpPr>
          <p:cNvPr id="18" name="Mini texto 3"/>
          <p:cNvSpPr txBox="1"/>
          <p:nvPr/>
        </p:nvSpPr>
        <p:spPr>
          <a:xfrm>
            <a:off x="8188757" y="5120640"/>
            <a:ext cx="34542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premium encontrados, cerca de metade</a:t>
            </a:r>
            <a:endParaRPr lang="en-US" sz="1500" dirty="0"/>
          </a:p>
        </p:txBody>
      </p:sp>
      <p:sp>
        <p:nvSpPr>
          <p:cNvPr id="19" name="Nota teste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final com 204 vinhos que o modelo nunca tinha visto.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 QUE MAIS PESA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Três fatores confirmados por dois modelos diferentes</a:t>
            </a:r>
            <a:endParaRPr lang="en-US" sz="3400" dirty="0"/>
          </a:p>
        </p:txBody>
      </p:sp>
      <p:sp>
        <p:nvSpPr>
          <p:cNvPr id="4" name="Teor alcoólico cartão"/>
          <p:cNvSpPr/>
          <p:nvPr/>
        </p:nvSpPr>
        <p:spPr>
          <a:xfrm>
            <a:off x="548640" y="1783080"/>
            <a:ext cx="3484778" cy="397764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or alcoólico círculo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Teor alcoólico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274320" cy="274320"/>
          </a:xfrm>
          <a:prstGeom prst="rect">
            <a:avLst/>
          </a:prstGeom>
        </p:spPr>
      </p:pic>
      <p:sp>
        <p:nvSpPr>
          <p:cNvPr id="7" name="Teor alcoólico nome"/>
          <p:cNvSpPr txBox="1"/>
          <p:nvPr/>
        </p:nvSpPr>
        <p:spPr>
          <a:xfrm>
            <a:off x="1600200" y="2194560"/>
            <a:ext cx="2113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</a:t>
            </a:r>
            <a:endParaRPr lang="en-US" sz="2100" dirty="0"/>
          </a:p>
        </p:txBody>
      </p:sp>
      <p:sp>
        <p:nvSpPr>
          <p:cNvPr id="8" name="Teor alcoólico efeito"/>
          <p:cNvSpPr txBox="1"/>
          <p:nvPr/>
        </p:nvSpPr>
        <p:spPr>
          <a:xfrm>
            <a:off x="868680" y="288036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2,2×</a:t>
            </a:r>
            <a:endParaRPr lang="en-US" sz="5200" dirty="0"/>
          </a:p>
        </p:txBody>
      </p:sp>
      <p:sp>
        <p:nvSpPr>
          <p:cNvPr id="9" name="Teor alcoólico explicação"/>
          <p:cNvSpPr txBox="1"/>
          <p:nvPr/>
        </p:nvSpPr>
        <p:spPr>
          <a:xfrm>
            <a:off x="868680" y="379476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 ponto a mais de álcool multiplica por 2,2 a chance de o vinho ser premium.</a:t>
            </a:r>
            <a:endParaRPr lang="en-US" sz="1500" dirty="0"/>
          </a:p>
        </p:txBody>
      </p:sp>
      <p:sp>
        <p:nvSpPr>
          <p:cNvPr id="10" name="Teor alcoólico confirmação"/>
          <p:cNvSpPr txBox="1"/>
          <p:nvPr/>
        </p:nvSpPr>
        <p:spPr>
          <a:xfrm>
            <a:off x="868680" y="507492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mais importante nos dois modelos</a:t>
            </a:r>
            <a:endParaRPr lang="en-US" sz="1300" dirty="0"/>
          </a:p>
        </p:txBody>
      </p:sp>
      <p:sp>
        <p:nvSpPr>
          <p:cNvPr id="11" name="Acidez volátil cartão"/>
          <p:cNvSpPr/>
          <p:nvPr/>
        </p:nvSpPr>
        <p:spPr>
          <a:xfrm>
            <a:off x="4353458" y="1783080"/>
            <a:ext cx="3484778" cy="397764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Acidez volátil círculo"/>
          <p:cNvSpPr/>
          <p:nvPr/>
        </p:nvSpPr>
        <p:spPr>
          <a:xfrm>
            <a:off x="4673498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Acidez volátil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658" y="2240280"/>
            <a:ext cx="274320" cy="274320"/>
          </a:xfrm>
          <a:prstGeom prst="rect">
            <a:avLst/>
          </a:prstGeom>
        </p:spPr>
      </p:pic>
      <p:sp>
        <p:nvSpPr>
          <p:cNvPr id="14" name="Acidez volátil nome"/>
          <p:cNvSpPr txBox="1"/>
          <p:nvPr/>
        </p:nvSpPr>
        <p:spPr>
          <a:xfrm>
            <a:off x="5405018" y="2194560"/>
            <a:ext cx="2113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Acidez volátil</a:t>
            </a:r>
            <a:endParaRPr lang="en-US" sz="2100" dirty="0"/>
          </a:p>
        </p:txBody>
      </p:sp>
      <p:sp>
        <p:nvSpPr>
          <p:cNvPr id="15" name="Acidez volátil efeito"/>
          <p:cNvSpPr txBox="1"/>
          <p:nvPr/>
        </p:nvSpPr>
        <p:spPr>
          <a:xfrm>
            <a:off x="4673498" y="288036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0,57×</a:t>
            </a:r>
            <a:endParaRPr lang="en-US" sz="5200" dirty="0"/>
          </a:p>
        </p:txBody>
      </p:sp>
      <p:sp>
        <p:nvSpPr>
          <p:cNvPr id="16" name="Acidez volátil explicação"/>
          <p:cNvSpPr txBox="1"/>
          <p:nvPr/>
        </p:nvSpPr>
        <p:spPr>
          <a:xfrm>
            <a:off x="4673498" y="379476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aumento típico (cerca de 0,2 g/L) reduz quase pela metade a chance de ser premium.</a:t>
            </a:r>
            <a:endParaRPr lang="en-US" sz="1500" dirty="0"/>
          </a:p>
        </p:txBody>
      </p:sp>
      <p:sp>
        <p:nvSpPr>
          <p:cNvPr id="17" name="Acidez volátil confirmação"/>
          <p:cNvSpPr txBox="1"/>
          <p:nvPr/>
        </p:nvSpPr>
        <p:spPr>
          <a:xfrm>
            <a:off x="4673498" y="507492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mais importante nos dois modelos</a:t>
            </a:r>
            <a:endParaRPr lang="en-US" sz="1300" dirty="0"/>
          </a:p>
        </p:txBody>
      </p:sp>
      <p:sp>
        <p:nvSpPr>
          <p:cNvPr id="18" name="Sulfatos cartão"/>
          <p:cNvSpPr/>
          <p:nvPr/>
        </p:nvSpPr>
        <p:spPr>
          <a:xfrm>
            <a:off x="8158277" y="1783080"/>
            <a:ext cx="3484778" cy="397764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ulfatos círculo"/>
          <p:cNvSpPr/>
          <p:nvPr/>
        </p:nvSpPr>
        <p:spPr>
          <a:xfrm>
            <a:off x="8478317" y="2103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Sulfatos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477" y="2240280"/>
            <a:ext cx="274320" cy="274320"/>
          </a:xfrm>
          <a:prstGeom prst="rect">
            <a:avLst/>
          </a:prstGeom>
        </p:spPr>
      </p:pic>
      <p:sp>
        <p:nvSpPr>
          <p:cNvPr id="21" name="Sulfatos nome"/>
          <p:cNvSpPr txBox="1"/>
          <p:nvPr/>
        </p:nvSpPr>
        <p:spPr>
          <a:xfrm>
            <a:off x="9209837" y="2194560"/>
            <a:ext cx="21131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2100" dirty="0"/>
          </a:p>
        </p:txBody>
      </p:sp>
      <p:sp>
        <p:nvSpPr>
          <p:cNvPr id="22" name="Sulfatos efeito"/>
          <p:cNvSpPr txBox="1"/>
          <p:nvPr/>
        </p:nvSpPr>
        <p:spPr>
          <a:xfrm>
            <a:off x="8478317" y="288036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1,7×</a:t>
            </a:r>
            <a:endParaRPr lang="en-US" sz="5200" dirty="0"/>
          </a:p>
        </p:txBody>
      </p:sp>
      <p:sp>
        <p:nvSpPr>
          <p:cNvPr id="23" name="Sulfatos explicação"/>
          <p:cNvSpPr txBox="1"/>
          <p:nvPr/>
        </p:nvSpPr>
        <p:spPr>
          <a:xfrm>
            <a:off x="8478317" y="3794760"/>
            <a:ext cx="28446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aumento típico eleva em cerca de 70% a chance de ser premium.</a:t>
            </a:r>
            <a:endParaRPr lang="en-US" sz="1500" dirty="0"/>
          </a:p>
        </p:txBody>
      </p:sp>
      <p:sp>
        <p:nvSpPr>
          <p:cNvPr id="24" name="Sulfatos confirmação"/>
          <p:cNvSpPr txBox="1"/>
          <p:nvPr/>
        </p:nvSpPr>
        <p:spPr>
          <a:xfrm>
            <a:off x="8478317" y="5074920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os 5 mais importantes nos dois</a:t>
            </a:r>
            <a:endParaRPr lang="en-US" sz="1300" dirty="0"/>
          </a:p>
        </p:txBody>
      </p:sp>
      <p:sp>
        <p:nvSpPr>
          <p:cNvPr id="25" name="Nota fatores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estimado mantendo as demais características iguais. Indica associação, não causa.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RECOMENDAÇÕES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Como a vinícola pode usar esses resultados</a:t>
            </a:r>
            <a:endParaRPr lang="en-US" sz="3400" dirty="0"/>
          </a:p>
        </p:txBody>
      </p:sp>
      <p:sp>
        <p:nvSpPr>
          <p:cNvPr id="4" name="Recomendação 1"/>
          <p:cNvSpPr/>
          <p:nvPr/>
        </p:nvSpPr>
        <p:spPr>
          <a:xfrm>
            <a:off x="548640" y="178308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Número 1 círculo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Número 1"/>
          <p:cNvSpPr txBox="1"/>
          <p:nvPr/>
        </p:nvSpPr>
        <p:spPr>
          <a:xfrm>
            <a:off x="86868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Recomendação título 1"/>
          <p:cNvSpPr txBox="1"/>
          <p:nvPr/>
        </p:nvSpPr>
        <p:spPr>
          <a:xfrm>
            <a:off x="1783080" y="2148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antes da degustação</a:t>
            </a:r>
            <a:endParaRPr lang="en-US" sz="1900" dirty="0"/>
          </a:p>
        </p:txBody>
      </p:sp>
      <p:sp>
        <p:nvSpPr>
          <p:cNvPr id="8" name="Recomendação texto 1"/>
          <p:cNvSpPr txBox="1"/>
          <p:nvPr/>
        </p:nvSpPr>
        <p:spPr>
          <a:xfrm>
            <a:off x="5212080" y="1965960"/>
            <a:ext cx="6110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na avaliação dos especialistas os lotes indicados pelo modelo, reduzindo o tempo gasto com vinhos comuns.</a:t>
            </a:r>
            <a:endParaRPr lang="en-US" sz="1500" dirty="0"/>
          </a:p>
        </p:txBody>
      </p:sp>
      <p:sp>
        <p:nvSpPr>
          <p:cNvPr id="9" name="Recomendação 2"/>
          <p:cNvSpPr/>
          <p:nvPr/>
        </p:nvSpPr>
        <p:spPr>
          <a:xfrm>
            <a:off x="548640" y="315468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Número 2 círculo"/>
          <p:cNvSpPr/>
          <p:nvPr/>
        </p:nvSpPr>
        <p:spPr>
          <a:xfrm>
            <a:off x="868680" y="34290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Número 2"/>
          <p:cNvSpPr txBox="1"/>
          <p:nvPr/>
        </p:nvSpPr>
        <p:spPr>
          <a:xfrm>
            <a:off x="868680" y="342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Recomendação título 2"/>
          <p:cNvSpPr txBox="1"/>
          <p:nvPr/>
        </p:nvSpPr>
        <p:spPr>
          <a:xfrm>
            <a:off x="178308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 três indicadores</a:t>
            </a:r>
            <a:endParaRPr lang="en-US" sz="1900" dirty="0"/>
          </a:p>
        </p:txBody>
      </p:sp>
      <p:sp>
        <p:nvSpPr>
          <p:cNvPr id="13" name="Recomendação texto 2"/>
          <p:cNvSpPr txBox="1"/>
          <p:nvPr/>
        </p:nvSpPr>
        <p:spPr>
          <a:xfrm>
            <a:off x="5212080" y="3337560"/>
            <a:ext cx="6110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 (maturação da uva na colheita), acidez volátil (alerta na fermentação e no armazenamento) e sulfatos (dentro dos limites permitidos).</a:t>
            </a:r>
            <a:endParaRPr lang="en-US" sz="1500" dirty="0"/>
          </a:p>
        </p:txBody>
      </p:sp>
      <p:sp>
        <p:nvSpPr>
          <p:cNvPr id="14" name="Recomendação 3"/>
          <p:cNvSpPr/>
          <p:nvPr/>
        </p:nvSpPr>
        <p:spPr>
          <a:xfrm>
            <a:off x="548640" y="452628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Número 3 círculo"/>
          <p:cNvSpPr/>
          <p:nvPr/>
        </p:nvSpPr>
        <p:spPr>
          <a:xfrm>
            <a:off x="868680" y="4800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Número 3"/>
          <p:cNvSpPr txBox="1"/>
          <p:nvPr/>
        </p:nvSpPr>
        <p:spPr>
          <a:xfrm>
            <a:off x="868680" y="4800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Recomendação título 3"/>
          <p:cNvSpPr txBox="1"/>
          <p:nvPr/>
        </p:nvSpPr>
        <p:spPr>
          <a:xfrm>
            <a:off x="1783080" y="4892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antes de escalar</a:t>
            </a:r>
            <a:endParaRPr lang="en-US" sz="1900" dirty="0"/>
          </a:p>
        </p:txBody>
      </p:sp>
      <p:sp>
        <p:nvSpPr>
          <p:cNvPr id="18" name="Recomendação texto 3"/>
          <p:cNvSpPr txBox="1"/>
          <p:nvPr/>
        </p:nvSpPr>
        <p:spPr>
          <a:xfrm>
            <a:off x="5212080" y="4709160"/>
            <a:ext cx="61109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mostram associação, não causa: validar qualquer mudança no processo em lotes controlados antes de adotá-la.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4"/>
                </a:solidFill>
              </a:rPr>
              <a:t>PRÓXIMOS PASSOS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73152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Limites do estudo e como avançar</a:t>
            </a:r>
            <a:endParaRPr lang="en-US" sz="3400" dirty="0"/>
          </a:p>
        </p:txBody>
      </p:sp>
      <p:sp>
        <p:nvSpPr>
          <p:cNvPr id="4" name="Limitações cartão"/>
          <p:cNvSpPr/>
          <p:nvPr/>
        </p:nvSpPr>
        <p:spPr>
          <a:xfrm>
            <a:off x="548640" y="1828800"/>
            <a:ext cx="5364328" cy="3566160"/>
          </a:xfrm>
          <a:prstGeom prst="roundRect">
            <a:avLst>
              <a:gd name="adj" fmla="val 3077"/>
            </a:avLst>
          </a:prstGeom>
          <a:solidFill>
            <a:srgbClr val="2A1F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Limitações título"/>
          <p:cNvSpPr txBox="1"/>
          <p:nvPr/>
        </p:nvSpPr>
        <p:spPr>
          <a:xfrm>
            <a:off x="960120" y="214884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2200" dirty="0"/>
          </a:p>
        </p:txBody>
      </p:sp>
      <p:sp>
        <p:nvSpPr>
          <p:cNvPr id="6" name="Limitações lista"/>
          <p:cNvSpPr txBox="1"/>
          <p:nvPr/>
        </p:nvSpPr>
        <p:spPr>
          <a:xfrm>
            <a:off x="960120" y="2788920"/>
            <a:ext cx="4541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pequena: apenas 137 vinhos premium distintos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vem de avaliação sensorial, que tem componente subjetivo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Faltam informações como tipo de uva, safra e região</a:t>
            </a:r>
            <a:endParaRPr lang="en-US" sz="1700" dirty="0"/>
          </a:p>
        </p:txBody>
      </p:sp>
      <p:sp>
        <p:nvSpPr>
          <p:cNvPr id="7" name="Próximos passos cartão"/>
          <p:cNvSpPr/>
          <p:nvPr/>
        </p:nvSpPr>
        <p:spPr>
          <a:xfrm>
            <a:off x="6278728" y="1828800"/>
            <a:ext cx="5364328" cy="3566160"/>
          </a:xfrm>
          <a:prstGeom prst="roundRect">
            <a:avLst>
              <a:gd name="adj" fmla="val 307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Próximos passos título"/>
          <p:cNvSpPr txBox="1"/>
          <p:nvPr/>
        </p:nvSpPr>
        <p:spPr>
          <a:xfrm>
            <a:off x="6690208" y="2148840"/>
            <a:ext cx="4541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9" name="Próximos passos lista"/>
          <p:cNvSpPr txBox="1"/>
          <p:nvPr/>
        </p:nvSpPr>
        <p:spPr>
          <a:xfrm>
            <a:off x="6690208" y="2788920"/>
            <a:ext cx="45413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mais amostras e dados de origem do vinho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um piloto da triagem com a equipe de enologia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o modelo periodicamente com novas safras</a:t>
            </a:r>
            <a:endParaRPr lang="en-US" sz="1700" dirty="0"/>
          </a:p>
        </p:txBody>
      </p:sp>
      <p:sp>
        <p:nvSpPr>
          <p:cNvPr id="10" name="Encerramento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nhos Premium">
  <a:themeElements>
    <a:clrScheme name="Vinhos Premium">
      <a:dk1>
        <a:srgbClr val="1E1A1C"/>
      </a:dk1>
      <a:lt1>
        <a:srgbClr val="FFFFFF"/>
      </a:lt1>
      <a:dk2>
        <a:srgbClr val="5A1E32"/>
      </a:dk2>
      <a:lt2>
        <a:srgbClr val="F4EFF1"/>
      </a:lt2>
      <a:accent1>
        <a:srgbClr val="8E2C48"/>
      </a:accent1>
      <a:accent2>
        <a:srgbClr val="2F6FA3"/>
      </a:accent2>
      <a:accent3>
        <a:srgbClr val="B5B0B3"/>
      </a:accent3>
      <a:accent4>
        <a:srgbClr val="E0708C"/>
      </a:accent4>
      <a:accent5>
        <a:srgbClr val="6B6468"/>
      </a:accent5>
      <a:accent6>
        <a:srgbClr val="1A1216"/>
      </a:accent6>
      <a:hlink>
        <a:srgbClr val="2F6FA3"/>
      </a:hlink>
      <a:folHlink>
        <a:srgbClr val="5A1E32"/>
      </a:folHlink>
    </a:clrScheme>
    <a:fontScheme name="Vinhos Premiu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767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Vinhos Premium</vt:lpstr>
      <vt:lpstr>Prevendo vinhos premium com dados de laboratório</vt:lpstr>
      <vt:lpstr>Hoje, só a degustação diz se um vinho é premium</vt:lpstr>
      <vt:lpstr>Vinhos premium são raros: apenas 1 em cada 7</vt:lpstr>
      <vt:lpstr>Vinhos premium têm um perfil químico diferente</vt:lpstr>
      <vt:lpstr>Nenhum fator decide sozinho</vt:lpstr>
      <vt:lpstr>Antes de concluir, garantimos dados confiáveis</vt:lpstr>
      <vt:lpstr>Com o modelo, quase 2 em cada 3 indicações são premium</vt:lpstr>
      <vt:lpstr>Três fatores confirmados por dois modelos diferentes</vt:lpstr>
      <vt:lpstr>Como a vinícola pode usar esses resultados</vt:lpstr>
      <vt:lpstr>Limites do estudo e como avançar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Prevendo vinhos premium com dados de laboratório</dc:title>
  <dc:subject>Tech Challenge Fase 2 - Classificação da qualidade de vinhos</dc:subject>
  <dc:creator>PptxGenJS</dc:creator>
  <cp:lastModifiedBy>Evandro Filippsen</cp:lastModifiedBy>
  <cp:revision>2</cp:revision>
  <dcterms:created xsi:type="dcterms:W3CDTF">2026-10-22T22:57:49Z</dcterms:created>
  <dcterms:modified xsi:type="dcterms:W3CDTF">2026-10-27T22:49:00Z</dcterms:modified>
</cp:coreProperties>
</file>